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3657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3800" b="1" i="0">
                <a:solidFill>
                  <a:srgbClr val="FFFFFF"/>
                </a:solidFill>
                <a:latin typeface="Calibri"/>
              </a:rPr>
              <a:t>MCP Tabanlı Yapay Zekâ Kişisel Asistan Platformu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2000" b="0" i="1">
                <a:solidFill>
                  <a:srgbClr val="CBD5E1"/>
                </a:solidFill>
                <a:latin typeface="Calibri"/>
              </a:rPr>
              <a:t>Google ve Notion Entegrasyonu ile Çok Kullanıcılı Mimari Tasarımı ve Geliştirilmesi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54864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800" b="1" i="0">
                <a:solidFill>
                  <a:srgbClr val="FFFFFF"/>
                </a:solidFill>
                <a:latin typeface="Calibri"/>
              </a:rPr>
              <a:t>Mustafa Yiğit GÜZEL</a:t>
            </a:r>
          </a:p>
          <a:p>
            <a:pPr/>
            <a:r>
              <a:rPr sz="1300" b="0" i="0">
                <a:solidFill>
                  <a:srgbClr val="CBD5E1"/>
                </a:solidFill>
                <a:latin typeface="Calibri"/>
              </a:rPr>
              <a:t>05210000209@ogrenci.ege.edu.tr</a:t>
            </a:r>
          </a:p>
          <a:p>
            <a:pPr/>
            <a:r>
              <a:rPr sz="80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/>
            <a:r>
              <a:rPr sz="1800" b="1" i="0">
                <a:solidFill>
                  <a:srgbClr val="FFFFFF"/>
                </a:solidFill>
                <a:latin typeface="Calibri"/>
              </a:rPr>
              <a:t>Meriç ÖZKAYAĞAN</a:t>
            </a:r>
          </a:p>
          <a:p>
            <a:pPr/>
            <a:r>
              <a:rPr sz="1300" b="0" i="0">
                <a:solidFill>
                  <a:srgbClr val="CBD5E1"/>
                </a:solidFill>
                <a:latin typeface="Calibri"/>
              </a:rPr>
              <a:t>05230001155@ogrenci.ege.edu.tr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206240"/>
            <a:ext cx="45720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300" b="0" i="0">
                <a:solidFill>
                  <a:srgbClr val="A5B4FC"/>
                </a:solidFill>
                <a:latin typeface="Calibri"/>
              </a:rPr>
              <a:t>Tez Danışmanı</a:t>
            </a:r>
          </a:p>
          <a:p>
            <a:pPr/>
            <a:r>
              <a:rPr sz="1800" b="1" i="0">
                <a:solidFill>
                  <a:srgbClr val="FFFFFF"/>
                </a:solidFill>
                <a:latin typeface="Calibri"/>
              </a:rPr>
              <a:t>Prof. Dr. Hasan BULUT</a:t>
            </a:r>
          </a:p>
          <a:p>
            <a:pPr/>
            <a:r>
              <a:rPr sz="80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/>
            <a:r>
              <a:rPr sz="1300" b="0" i="0">
                <a:solidFill>
                  <a:srgbClr val="CBD5E1"/>
                </a:solidFill>
                <a:latin typeface="Calibri"/>
              </a:rPr>
              <a:t>Bilgisayar Mühendisliği</a:t>
            </a:r>
          </a:p>
          <a:p>
            <a:pPr/>
            <a:r>
              <a:rPr sz="1300" b="0" i="0">
                <a:solidFill>
                  <a:srgbClr val="CBD5E1"/>
                </a:solidFill>
                <a:latin typeface="Calibri"/>
              </a:rPr>
              <a:t>Ege Üniversitesi,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2600" b="1" i="0">
                <a:solidFill>
                  <a:srgbClr val="FFFFFF"/>
                </a:solidFill>
                <a:latin typeface="Calibri"/>
              </a:rPr>
              <a:t>Konu ve Amaç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400" b="0" i="0">
                <a:solidFill>
                  <a:srgbClr val="CBD5E1"/>
                </a:solidFill>
                <a:latin typeface="Calibri"/>
              </a:rPr>
              <a:t>Niçin yeni bir asistan platformuna ihtiyaç var?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2200" b="1" i="0">
                <a:solidFill>
                  <a:srgbClr val="6366F1"/>
                </a:solidFill>
                <a:latin typeface="Calibr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500" b="0" i="0">
                <a:solidFill>
                  <a:srgbClr val="0F172A"/>
                </a:solidFill>
                <a:latin typeface="Calibri"/>
              </a:rPr>
              <a:t>• Bilgi çalışanı her gün 5+ üretkenlik aracı arasında geçiş yapıyor.</a:t>
            </a:r>
          </a:p>
          <a:p>
            <a:pPr/>
            <a:r>
              <a:rPr sz="60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/>
            <a:r>
              <a:rPr sz="1500" b="0" i="0">
                <a:solidFill>
                  <a:srgbClr val="0F172A"/>
                </a:solidFill>
                <a:latin typeface="Calibri"/>
              </a:rPr>
              <a:t>• Bağlam değiştirme maliyeti üretkenliği düşürüyor (Mark vd., 2008).</a:t>
            </a:r>
          </a:p>
          <a:p>
            <a:pPr/>
            <a:r>
              <a:rPr sz="60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/>
            <a:r>
              <a:rPr sz="1500" b="0" i="0">
                <a:solidFill>
                  <a:srgbClr val="0F172A"/>
                </a:solidFill>
                <a:latin typeface="Calibri"/>
              </a:rPr>
              <a:t>• Mevcut AI asistanları (ChatGPT, Gemini, Copilot) ya kapalı kutu ya da</a:t>
            </a:r>
          </a:p>
          <a:p>
            <a:pPr/>
            <a:r>
              <a:rPr sz="1500" b="0" i="0">
                <a:solidFill>
                  <a:srgbClr val="0F172A"/>
                </a:solidFill>
                <a:latin typeface="Calibri"/>
              </a:rPr>
              <a:t>   üçüncü parti araç desteği sınırlı.</a:t>
            </a:r>
          </a:p>
          <a:p>
            <a:pPr/>
            <a:r>
              <a:rPr sz="60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/>
            <a:r>
              <a:rPr sz="1500" b="0" i="0">
                <a:solidFill>
                  <a:srgbClr val="0F172A"/>
                </a:solidFill>
                <a:latin typeface="Calibri"/>
              </a:rPr>
              <a:t>• Kullanıcı verisi merkezi sağlayıcıda toplanıyor.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2200" b="1" i="0">
                <a:solidFill>
                  <a:srgbClr val="10B981"/>
                </a:solidFill>
                <a:latin typeface="Calibri"/>
              </a:rPr>
              <a:t>Amaç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500" b="0" i="0">
                <a:solidFill>
                  <a:srgbClr val="0F172A"/>
                </a:solidFill>
                <a:latin typeface="Calibri"/>
              </a:rPr>
              <a:t>Doğal dil ile, kullanıcının kendi hesaplarına bağlanan, kendi LLM API anahtarını kullanan, MCP esinli ve güvenli bir çok kullanıcılı kişisel asistan platformu geliştirmek.</a:t>
            </a:r>
          </a:p>
          <a:p>
            <a:pPr/>
            <a:r>
              <a:rPr sz="80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/>
            <a:r>
              <a:rPr sz="1400" b="1" i="0">
                <a:solidFill>
                  <a:srgbClr val="6366F1"/>
                </a:solidFill>
                <a:latin typeface="Calibri"/>
              </a:rPr>
              <a:t>✓ BYOK · ✓ MCP esinli registry · ✓ AES-256-GCM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000" b="0" i="0">
                <a:solidFill>
                  <a:srgbClr val="475569"/>
                </a:solidFill>
                <a:latin typeface="Calibri"/>
              </a:rPr>
              <a:t>MCP Tabanlı Yapay Zekâ Kişisel Asistan Platformu — Güzel &amp; Özkayağan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475569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2600" b="1" i="0">
                <a:solidFill>
                  <a:srgbClr val="FFFFFF"/>
                </a:solidFill>
                <a:latin typeface="Calibri"/>
              </a:rPr>
              <a:t>Özgün Değer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400" b="0" i="0">
                <a:solidFill>
                  <a:srgbClr val="CBD5E1"/>
                </a:solidFill>
                <a:latin typeface="Calibri"/>
              </a:rPr>
              <a:t>Mevcut çözümlerden farklılaştığımız altı nokta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3703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109728" cy="23774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800" b="1" i="0">
                <a:solidFill>
                  <a:srgbClr val="0F172A"/>
                </a:solidFill>
                <a:latin typeface="Calibri"/>
              </a:rPr>
              <a:t>BYOK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333756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300" b="0" i="0">
                <a:solidFill>
                  <a:srgbClr val="475569"/>
                </a:solidFill>
                <a:latin typeface="Calibri"/>
              </a:rPr>
              <a:t>Kullanıcı kendi OpenAI veya Anthropic anahtarıyla çalışır; biz saklarız, çağırmayız.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2" y="1097280"/>
            <a:ext cx="3703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3672" y="1097280"/>
            <a:ext cx="109728" cy="23774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280160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800" b="1" i="0">
                <a:solidFill>
                  <a:srgbClr val="0F172A"/>
                </a:solidFill>
                <a:latin typeface="Calibri"/>
              </a:rPr>
              <a:t>MCP esinli 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874520"/>
            <a:ext cx="333756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300" b="0" i="0">
                <a:solidFill>
                  <a:srgbClr val="475569"/>
                </a:solidFill>
                <a:latin typeface="Calibri"/>
              </a:rPr>
              <a:t>Yeni araç eklemek ortalama 20-30 satır TypeScript kodu.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5864" y="1097280"/>
            <a:ext cx="3703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1097280"/>
            <a:ext cx="109728" cy="2377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1280160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800" b="1" i="0">
                <a:solidFill>
                  <a:srgbClr val="0F172A"/>
                </a:solidFill>
                <a:latin typeface="Calibri"/>
              </a:rPr>
              <a:t>13 araç tek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1874520"/>
            <a:ext cx="333756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300" b="0" i="0">
                <a:solidFill>
                  <a:srgbClr val="475569"/>
                </a:solidFill>
                <a:latin typeface="Calibri"/>
              </a:rPr>
              <a:t>Calendar, Drive, Gmail, Notion ve Tavily aynı sohbette.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657600"/>
            <a:ext cx="3703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657600"/>
            <a:ext cx="109728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40480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800" b="1" i="0">
                <a:solidFill>
                  <a:srgbClr val="0F172A"/>
                </a:solidFill>
                <a:latin typeface="Calibri"/>
              </a:rPr>
              <a:t>Kurum güvenliği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434840"/>
            <a:ext cx="333756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300" b="0" i="0">
                <a:solidFill>
                  <a:srgbClr val="475569"/>
                </a:solidFill>
                <a:latin typeface="Calibri"/>
              </a:rPr>
              <a:t>AES-256-GCM şifreli token + JWT + bcrypt 12-round + CSRF'li OAuth.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33672" y="3657600"/>
            <a:ext cx="3703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33672" y="3657600"/>
            <a:ext cx="109728" cy="237744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3840480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800" b="1" i="0">
                <a:solidFill>
                  <a:srgbClr val="0F172A"/>
                </a:solidFill>
                <a:latin typeface="Calibri"/>
              </a:rPr>
              <a:t>Otomatik token yenileme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4434840"/>
            <a:ext cx="333756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300" b="0" i="0">
                <a:solidFill>
                  <a:srgbClr val="475569"/>
                </a:solidFill>
                <a:latin typeface="Calibri"/>
              </a:rPr>
              <a:t>Google refresh-token'ı son 5 dk'da sessizce yenilenir.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55864" y="3657600"/>
            <a:ext cx="3703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55864" y="3657600"/>
            <a:ext cx="109728" cy="2377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4" y="3840480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800" b="1" i="0">
                <a:solidFill>
                  <a:srgbClr val="0F172A"/>
                </a:solidFill>
                <a:latin typeface="Calibri"/>
              </a:rPr>
              <a:t>Akış + multi-step reasoning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4434840"/>
            <a:ext cx="333756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300" b="0" i="0">
                <a:solidFill>
                  <a:srgbClr val="475569"/>
                </a:solidFill>
                <a:latin typeface="Calibri"/>
              </a:rPr>
              <a:t>Vercel AI SDK ile streaming, maxSteps=5 araç zinciri.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000" b="0" i="0">
                <a:solidFill>
                  <a:srgbClr val="475569"/>
                </a:solidFill>
                <a:latin typeface="Calibri"/>
              </a:rPr>
              <a:t>MCP Tabanlı Yapay Zekâ Kişisel Asistan Platformu — Güzel &amp; Özkayağan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475569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2600" b="1" i="0">
                <a:solidFill>
                  <a:srgbClr val="FFFFFF"/>
                </a:solidFill>
                <a:latin typeface="Calibri"/>
              </a:rPr>
              <a:t>Yaygın Etki &amp; Uygulanabilirlik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400" b="0" i="0">
                <a:solidFill>
                  <a:srgbClr val="CBD5E1"/>
                </a:solidFill>
                <a:latin typeface="Calibri"/>
              </a:rPr>
              <a:t>Akademik, endüstriyel ve toplumsal değer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2200" b="1" i="0">
                <a:solidFill>
                  <a:srgbClr val="6366F1"/>
                </a:solidFill>
                <a:latin typeface="Calibri"/>
              </a:rPr>
              <a:t>Yaygın Etki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400" b="1" i="0">
                <a:solidFill>
                  <a:srgbClr val="0F172A"/>
                </a:solidFill>
                <a:latin typeface="Calibri"/>
              </a:rPr>
              <a:t>Akademik</a:t>
            </a:r>
          </a:p>
          <a:p>
            <a:pPr/>
            <a:r>
              <a:rPr sz="1300" b="0" i="0">
                <a:solidFill>
                  <a:srgbClr val="475569"/>
                </a:solidFill>
                <a:latin typeface="Calibri"/>
              </a:rPr>
              <a:t>• MCP protokolünün üretkenlikte somut uygulaması</a:t>
            </a:r>
          </a:p>
          <a:p>
            <a:pPr/>
            <a:r>
              <a:rPr sz="1300" b="0" i="0">
                <a:solidFill>
                  <a:srgbClr val="475569"/>
                </a:solidFill>
                <a:latin typeface="Calibri"/>
              </a:rPr>
              <a:t>• Çok kiracılı LLM mimarisi için referans şablon</a:t>
            </a:r>
          </a:p>
          <a:p>
            <a:pPr/>
            <a:r>
              <a:rPr sz="60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/>
            <a:r>
              <a:rPr sz="1400" b="1" i="0">
                <a:solidFill>
                  <a:srgbClr val="0F172A"/>
                </a:solidFill>
                <a:latin typeface="Calibri"/>
              </a:rPr>
              <a:t>Endüstriyel</a:t>
            </a:r>
          </a:p>
          <a:p>
            <a:pPr/>
            <a:r>
              <a:rPr sz="1300" b="0" i="0">
                <a:solidFill>
                  <a:srgbClr val="475569"/>
                </a:solidFill>
                <a:latin typeface="Calibri"/>
              </a:rPr>
              <a:t>• KOBİ ve bireysel kullanıcı için kendi verisi üzerinde çalışan asistan</a:t>
            </a:r>
          </a:p>
          <a:p>
            <a:pPr/>
            <a:r>
              <a:rPr sz="1300" b="0" i="0">
                <a:solidFill>
                  <a:srgbClr val="475569"/>
                </a:solidFill>
                <a:latin typeface="Calibri"/>
              </a:rPr>
              <a:t>• Maliyet şeffaflığı: kullanıcı kendi API faturasını görür</a:t>
            </a:r>
          </a:p>
          <a:p>
            <a:pPr/>
            <a:r>
              <a:rPr sz="60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/>
            <a:r>
              <a:rPr sz="1400" b="1" i="0">
                <a:solidFill>
                  <a:srgbClr val="0F172A"/>
                </a:solidFill>
                <a:latin typeface="Calibri"/>
              </a:rPr>
              <a:t>Toplumsal</a:t>
            </a:r>
          </a:p>
          <a:p>
            <a:pPr/>
            <a:r>
              <a:rPr sz="1300" b="0" i="0">
                <a:solidFill>
                  <a:srgbClr val="475569"/>
                </a:solidFill>
                <a:latin typeface="Calibri"/>
              </a:rPr>
              <a:t>• Veri kullanıcının hesabında kalır, merkezi şirkette toplanmaz</a:t>
            </a:r>
          </a:p>
          <a:p>
            <a:pPr/>
            <a:r>
              <a:rPr sz="1300" b="0" i="0">
                <a:solidFill>
                  <a:srgbClr val="475569"/>
                </a:solidFill>
                <a:latin typeface="Calibri"/>
              </a:rPr>
              <a:t>• OAuth scope minimalizmi ile gizlilik öncelikli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2200" b="1" i="0">
                <a:solidFill>
                  <a:srgbClr val="10B981"/>
                </a:solidFill>
                <a:latin typeface="Calibri"/>
              </a:rPr>
              <a:t>Kanıtlanan Uygulanabilirlik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300" b="0" i="0">
                <a:solidFill>
                  <a:srgbClr val="475569"/>
                </a:solidFill>
                <a:latin typeface="Calibri"/>
              </a:rPr>
              <a:t>• 3 servisli Docker Compose ile tek komutta ayağa kalkar</a:t>
            </a:r>
          </a:p>
          <a:p>
            <a:pPr/>
            <a:r>
              <a:rPr sz="1300" b="0" i="0">
                <a:solidFill>
                  <a:srgbClr val="475569"/>
                </a:solidFill>
                <a:latin typeface="Calibri"/>
              </a:rPr>
              <a:t>• 5 PostgreSQL tablosu, 4 route grubu, 13 araç, tam OAuth 2.0</a:t>
            </a:r>
          </a:p>
          <a:p>
            <a:pPr/>
            <a:r>
              <a:rPr sz="1300" b="0" i="0">
                <a:solidFill>
                  <a:srgbClr val="475569"/>
                </a:solidFill>
                <a:latin typeface="Calibri"/>
              </a:rPr>
              <a:t>• test-integration.ps1 ile uçtan uca otomatik test</a:t>
            </a:r>
          </a:p>
          <a:p>
            <a:pPr/>
            <a:r>
              <a:rPr sz="1300" b="0" i="0">
                <a:solidFill>
                  <a:srgbClr val="475569"/>
                </a:solidFill>
                <a:latin typeface="Calibri"/>
              </a:rPr>
              <a:t>• Stateless backend → yatay ölçeklenebilir</a:t>
            </a:r>
          </a:p>
          <a:p>
            <a:pPr/>
            <a:r>
              <a:rPr sz="800" b="0" i="0">
                <a:solidFill>
                  <a:srgbClr val="0F172A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389120"/>
            <a:ext cx="2468880" cy="1463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480560"/>
            <a:ext cx="24688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  <a:latin typeface="Calibri"/>
              </a:rPr>
              <a:t>%87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4924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doğru araç seçimi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4389120"/>
            <a:ext cx="2468880" cy="1463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4480560"/>
            <a:ext cx="24688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600" b="1" i="0">
                <a:solidFill>
                  <a:srgbClr val="0EA5E9"/>
                </a:solidFill>
                <a:latin typeface="Calibri"/>
              </a:rPr>
              <a:t>220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534924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token yenileme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000" b="0" i="0">
                <a:solidFill>
                  <a:srgbClr val="475569"/>
                </a:solidFill>
                <a:latin typeface="Calibri"/>
              </a:rPr>
              <a:t>MCP Tabanlı Yapay Zekâ Kişisel Asistan Platformu — Güzel &amp; Özkayağan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475569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2600" b="1" i="0">
                <a:solidFill>
                  <a:srgbClr val="FFFFFF"/>
                </a:solidFill>
                <a:latin typeface="Calibri"/>
              </a:rPr>
              <a:t>Gerçekleştirme — Onboarding Akışı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400" b="0" i="0">
                <a:solidFill>
                  <a:srgbClr val="CBD5E1"/>
                </a:solidFill>
                <a:latin typeface="Calibri"/>
              </a:rPr>
              <a:t>Kayıt → BYOK API anahtarı (AES-256-GCM) → OAuth bağlantı (CSRF'li state) → Sohbete hazır</a:t>
            </a:r>
          </a:p>
        </p:txBody>
      </p:sp>
      <p:pic>
        <p:nvPicPr>
          <p:cNvPr id="6" name="Picture 5" descr="fig_6_1_onboa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914400"/>
            <a:ext cx="9144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000" b="0" i="0">
                <a:solidFill>
                  <a:srgbClr val="475569"/>
                </a:solidFill>
                <a:latin typeface="Calibri"/>
              </a:rPr>
              <a:t>MCP Tabanlı Yapay Zekâ Kişisel Asistan Platformu — Güzel &amp; Özkayağan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475569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2600" b="1" i="0">
                <a:solidFill>
                  <a:srgbClr val="FFFFFF"/>
                </a:solidFill>
                <a:latin typeface="Calibri"/>
              </a:rPr>
              <a:t>Gerçekleştirme — Uçtan Uca Sohbet Akışı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400" b="0" i="0">
                <a:solidFill>
                  <a:srgbClr val="CBD5E1"/>
                </a:solidFill>
                <a:latin typeface="Calibri"/>
              </a:rPr>
              <a:t>Tek HTTP isteğinde: auth → persist → streamText → araç zinciri → stream geri dön</a:t>
            </a:r>
          </a:p>
        </p:txBody>
      </p:sp>
      <p:pic>
        <p:nvPicPr>
          <p:cNvPr id="6" name="Picture 5" descr="fig_6_2_chat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439" y="914400"/>
            <a:ext cx="7130642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000" b="0" i="0">
                <a:solidFill>
                  <a:srgbClr val="475569"/>
                </a:solidFill>
                <a:latin typeface="Calibri"/>
              </a:rPr>
              <a:t>MCP Tabanlı Yapay Zekâ Kişisel Asistan Platformu — Güzel &amp; Özkayağan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475569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2600" b="1" i="0">
                <a:solidFill>
                  <a:srgbClr val="FFFFFF"/>
                </a:solidFill>
                <a:latin typeface="Calibri"/>
              </a:rPr>
              <a:t>Gerçekleştirme — LLM Karar Döngüsü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400" b="0" i="0">
                <a:solidFill>
                  <a:srgbClr val="CBD5E1"/>
                </a:solidFill>
                <a:latin typeface="Calibri"/>
              </a:rPr>
              <a:t>maxSteps = 5 · model her adımda yeni araç seçebilir veya nihai cevabı akış olarak üretebilir</a:t>
            </a:r>
          </a:p>
        </p:txBody>
      </p:sp>
      <p:pic>
        <p:nvPicPr>
          <p:cNvPr id="6" name="Picture 5" descr="fig_6_3_ai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480" y="914400"/>
            <a:ext cx="829056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000" b="0" i="0">
                <a:solidFill>
                  <a:srgbClr val="475569"/>
                </a:solidFill>
                <a:latin typeface="Calibri"/>
              </a:rPr>
              <a:t>MCP Tabanlı Yapay Zekâ Kişisel Asistan Platformu — Güzel &amp; Özkayağan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475569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2600" b="1" i="0">
                <a:solidFill>
                  <a:srgbClr val="FFFFFF"/>
                </a:solidFill>
                <a:latin typeface="Calibri"/>
              </a:rPr>
              <a:t>Mimari ve Araç Kataloğu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400" b="0" i="0">
                <a:solidFill>
                  <a:srgbClr val="CBD5E1"/>
                </a:solidFill>
                <a:latin typeface="Calibri"/>
              </a:rPr>
              <a:t>Monorepo yapısı ve toplam 13 MCP aracı</a:t>
            </a:r>
          </a:p>
        </p:txBody>
      </p:sp>
      <p:pic>
        <p:nvPicPr>
          <p:cNvPr id="6" name="Picture 5" descr="fig_3_1_mono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49193"/>
            <a:ext cx="6675120" cy="423393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0" y="1005840"/>
            <a:ext cx="4480560" cy="5120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097280"/>
            <a:ext cx="4206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800" b="1" i="0">
                <a:solidFill>
                  <a:srgbClr val="0F172A"/>
                </a:solidFill>
                <a:latin typeface="Calibri"/>
              </a:rPr>
              <a:t>13 Kayıtlı Araç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691640"/>
            <a:ext cx="91440" cy="7772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69164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400" b="1" i="0">
                <a:solidFill>
                  <a:srgbClr val="0F172A"/>
                </a:solidFill>
                <a:latin typeface="Calibri"/>
              </a:rPr>
              <a:t>Google Calendar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0312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100" b="0" i="0">
                <a:solidFill>
                  <a:srgbClr val="475569"/>
                </a:solidFill>
                <a:latin typeface="Calibri"/>
              </a:rPr>
              <a:t>list · create · update events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560320"/>
            <a:ext cx="91440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56032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400" b="1" i="0">
                <a:solidFill>
                  <a:srgbClr val="0F172A"/>
                </a:solidFill>
                <a:latin typeface="Calibri"/>
              </a:rPr>
              <a:t>Google Drive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97180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100" b="0" i="0">
                <a:solidFill>
                  <a:srgbClr val="475569"/>
                </a:solidFill>
                <a:latin typeface="Calibri"/>
              </a:rPr>
              <a:t>list · upload files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3429000"/>
            <a:ext cx="91440" cy="7772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34290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400" b="1" i="0">
                <a:solidFill>
                  <a:srgbClr val="0F172A"/>
                </a:solidFill>
                <a:latin typeface="Calibri"/>
              </a:rPr>
              <a:t>Gmail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84048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100" b="0" i="0">
                <a:solidFill>
                  <a:srgbClr val="475569"/>
                </a:solidFill>
                <a:latin typeface="Calibri"/>
              </a:rPr>
              <a:t>list · read · send emails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429768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429768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400" b="1" i="0">
                <a:solidFill>
                  <a:srgbClr val="0F172A"/>
                </a:solidFill>
                <a:latin typeface="Calibri"/>
              </a:rPr>
              <a:t>Notion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0916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100" b="0" i="0">
                <a:solidFill>
                  <a:srgbClr val="475569"/>
                </a:solidFill>
                <a:latin typeface="Calibri"/>
              </a:rPr>
              <a:t>search · create · append · 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5166360"/>
            <a:ext cx="91440" cy="7772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516636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400" b="1" i="0">
                <a:solidFill>
                  <a:srgbClr val="0F172A"/>
                </a:solidFill>
                <a:latin typeface="Calibri"/>
              </a:rPr>
              <a:t>Tavily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557784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100" b="0" i="0">
                <a:solidFill>
                  <a:srgbClr val="475569"/>
                </a:solidFill>
                <a:latin typeface="Calibri"/>
              </a:rPr>
              <a:t>web_search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000" b="0" i="0">
                <a:solidFill>
                  <a:srgbClr val="475569"/>
                </a:solidFill>
                <a:latin typeface="Calibri"/>
              </a:rPr>
              <a:t>MCP Tabanlı Yapay Zekâ Kişisel Asistan Platformu — Güzel &amp; Özkayağan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475569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2600" b="1" i="0">
                <a:solidFill>
                  <a:srgbClr val="FFFFFF"/>
                </a:solidFill>
                <a:latin typeface="Calibri"/>
              </a:rPr>
              <a:t>Demo &amp; Teşekkürler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400" b="0" i="0">
                <a:solidFill>
                  <a:srgbClr val="CBD5E1"/>
                </a:solidFill>
                <a:latin typeface="Calibri"/>
              </a:rPr>
              <a:t>Canlı uygulama gösterimi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800" b="1" i="0">
                <a:solidFill>
                  <a:srgbClr val="6366F1"/>
                </a:solidFill>
                <a:latin typeface="Calibri"/>
              </a:rPr>
              <a:t>Canlı Demo Senaryoları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0292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300" b="0" i="0">
                <a:solidFill>
                  <a:srgbClr val="0F172A"/>
                </a:solidFill>
                <a:latin typeface="Calibri"/>
              </a:rPr>
              <a:t>• "Bugünkü toplantılarımı listele"</a:t>
            </a:r>
          </a:p>
          <a:p>
            <a:pPr/>
            <a:r>
              <a:rPr sz="1100" b="0" i="0">
                <a:solidFill>
                  <a:srgbClr val="475569"/>
                </a:solidFill>
                <a:latin typeface="Calibri"/>
              </a:rPr>
              <a:t>   → Calendar</a:t>
            </a:r>
          </a:p>
          <a:p>
            <a:pPr/>
            <a:r>
              <a:rPr sz="60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/>
            <a:r>
              <a:rPr sz="1300" b="0" i="0">
                <a:solidFill>
                  <a:srgbClr val="0F172A"/>
                </a:solidFill>
                <a:latin typeface="Calibri"/>
              </a:rPr>
              <a:t>• "Bu notu Notion'a ekle"</a:t>
            </a:r>
          </a:p>
          <a:p>
            <a:pPr/>
            <a:r>
              <a:rPr sz="1100" b="0" i="0">
                <a:solidFill>
                  <a:srgbClr val="475569"/>
                </a:solidFill>
                <a:latin typeface="Calibri"/>
              </a:rPr>
              <a:t>   → Notion search + append</a:t>
            </a:r>
          </a:p>
          <a:p>
            <a:pPr/>
            <a:r>
              <a:rPr sz="60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/>
            <a:r>
              <a:rPr sz="1300" b="0" i="0">
                <a:solidFill>
                  <a:srgbClr val="0F172A"/>
                </a:solidFill>
                <a:latin typeface="Calibri"/>
              </a:rPr>
              <a:t>• "Son e-postalarımı listele"</a:t>
            </a:r>
          </a:p>
          <a:p>
            <a:pPr/>
            <a:r>
              <a:rPr sz="1100" b="0" i="0">
                <a:solidFill>
                  <a:srgbClr val="475569"/>
                </a:solidFill>
                <a:latin typeface="Calibri"/>
              </a:rPr>
              <a:t>   → Gmail</a:t>
            </a:r>
          </a:p>
          <a:p>
            <a:pPr/>
            <a:r>
              <a:rPr sz="60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/>
            <a:r>
              <a:rPr sz="1300" b="0" i="0">
                <a:solidFill>
                  <a:srgbClr val="0F172A"/>
                </a:solidFill>
                <a:latin typeface="Calibri"/>
              </a:rPr>
              <a:t>• "MCP son gelişmeleri"</a:t>
            </a:r>
          </a:p>
          <a:p>
            <a:pPr/>
            <a:r>
              <a:rPr sz="1100" b="0" i="0">
                <a:solidFill>
                  <a:srgbClr val="475569"/>
                </a:solidFill>
                <a:latin typeface="Calibri"/>
              </a:rPr>
              <a:t>   → Tavily web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600" b="1" i="0">
                <a:solidFill>
                  <a:srgbClr val="10B981"/>
                </a:solidFill>
                <a:latin typeface="Calibri"/>
              </a:rPr>
              <a:t>Teşekkürler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200" b="0" i="0">
                <a:solidFill>
                  <a:srgbClr val="0F172A"/>
                </a:solidFill>
                <a:latin typeface="Calibri"/>
              </a:rPr>
              <a:t>Danışmanımız Prof. Dr. Hasan BULUT'a değerli rehberliği için.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100" b="0" i="0">
                <a:solidFill>
                  <a:srgbClr val="475569"/>
                </a:solidFill>
                <a:latin typeface="Calibri"/>
              </a:rPr>
              <a:t>05210000209@ogrenci.ege.edu.tr</a:t>
            </a:r>
          </a:p>
          <a:p>
            <a:pPr/>
            <a:r>
              <a:rPr sz="1100" b="0" i="0">
                <a:solidFill>
                  <a:srgbClr val="475569"/>
                </a:solidFill>
                <a:latin typeface="Calibri"/>
              </a:rPr>
              <a:t>05230001155@ogrenci.ege.edu.tr</a:t>
            </a:r>
          </a:p>
        </p:txBody>
      </p:sp>
      <p:pic>
        <p:nvPicPr>
          <p:cNvPr id="11" name="Picture 10" descr="ss_06_chat_ty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25930"/>
            <a:ext cx="6035040" cy="3771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0720" y="6217920"/>
            <a:ext cx="60350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Şekil: Kullanıcı sorgusu girilmiş gerçek sohbet arayüzü.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000" b="0" i="0">
                <a:solidFill>
                  <a:srgbClr val="475569"/>
                </a:solidFill>
                <a:latin typeface="Calibri"/>
              </a:rPr>
              <a:t>MCP Tabanlı Yapay Zekâ Kişisel Asistan Platformu — Güzel &amp; Özkayağan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475569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